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70" r:id="rId5"/>
    <p:sldId id="271" r:id="rId6"/>
    <p:sldId id="259" r:id="rId7"/>
    <p:sldId id="261" r:id="rId8"/>
    <p:sldId id="260" r:id="rId9"/>
    <p:sldId id="274" r:id="rId10"/>
    <p:sldId id="262" r:id="rId11"/>
    <p:sldId id="273" r:id="rId12"/>
    <p:sldId id="272" r:id="rId13"/>
    <p:sldId id="265" r:id="rId14"/>
    <p:sldId id="269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D6"/>
    <a:srgbClr val="36A536"/>
    <a:srgbClr val="0E4783"/>
    <a:srgbClr val="A2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0B5A6-1999-D34A-B225-025C0C1B072E}" v="1" dt="2026-03-27T11:49:50.091"/>
    <p1510:client id="{4BC497DD-8E6E-C740-A79D-6F85049ECD25}" v="1794" dt="2026-03-24T00:14:55.681"/>
    <p1510:client id="{6AF50D58-D6D0-4AC9-B32C-62D778DAEBBE}" v="3771" dt="2026-03-24T08:43:22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53" d="100"/>
          <a:sy n="153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82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8CCF-5F52-97D4-FD21-8CFA83CF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977D-EB86-BACD-E3DB-9EFB26503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A0532-A83E-4838-EBD3-F690848ED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E9E78-2519-FEC7-B4EC-B39745DB1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96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5E63-56D5-71A0-0828-91A7D965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A7DFC-1AD1-7532-680A-BE5EDC775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C3643-6ADF-D32C-9134-56B14A041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know there are organics, but we struggle to detect them  using VIMS. Why?</a:t>
            </a:r>
            <a:br>
              <a:rPr lang="en-US"/>
            </a:br>
            <a:r>
              <a:rPr lang="en-US"/>
              <a:t>Relate to large amount of water, features falling outside measured spectrum. What features fall within spectrum?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24F34-D20E-56BC-54A1-ACA896D80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11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FC7C-3C12-8A4B-525C-F76DC68C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CA3CF-DA3C-8FDE-5872-DF7634145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52A12-6087-90EA-B964-85E1B46DF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Methanol falls within spectrum. However, even if we know methanol is present, VIMS only contains faint features. Why? Low concentration, spectral resolution.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525C8-47D6-FD04-59FD-32A87BBE1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56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E089-D40C-2025-5E47-E43593C7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C05E0-D7C9-4235-97E4-6B36D7BE3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A72D4-247A-2D88-165C-B3BB20F06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D3435-B1C7-12A2-1230-CF14E118B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discernible IR features fall outside VIMS range. Overlap of amorphous water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spectral resolution, spatial resolution (flyby distance, pixel size), SNR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Effect of resolving power: compare lab equipment to VIMS to Europa Clipper</a:t>
            </a:r>
          </a:p>
          <a:p>
            <a:endParaRPr lang="en-US"/>
          </a:p>
          <a:p>
            <a:r>
              <a:rPr lang="en-US"/>
              <a:t>Glasses analogue: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1A0D8-D02E-B954-E1A6-C4C1944F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11916-11F4-B187-B209-C28F2C288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43BA0-EB19-8AF9-7301-ACD6628A1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Verification of HITRAN and Lab results</a:t>
            </a:r>
          </a:p>
          <a:p>
            <a:r>
              <a:rPr lang="en-US"/>
              <a:t>Quite big difference: expected</a:t>
            </a:r>
          </a:p>
          <a:p>
            <a:r>
              <a:rPr lang="en-US"/>
              <a:t>But large features are there</a:t>
            </a:r>
          </a:p>
          <a:p>
            <a:endParaRPr lang="en-US"/>
          </a:p>
          <a:p>
            <a:r>
              <a:rPr lang="en-US"/>
              <a:t>Glasses analogue: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66F90-7A0E-DB8E-BB2F-C4EA91B28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91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AD41-870D-9B05-E248-7F197F2C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06192-F1F0-6AA0-1A3A-39EFC4B22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A53E7-FC48-B43B-4E0C-B610AB5D8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know there are organics, but we struggle to detect them  using VIMS. Why?</a:t>
            </a:r>
            <a:br>
              <a:rPr lang="en-US"/>
            </a:br>
            <a:r>
              <a:rPr lang="en-US"/>
              <a:t>Relate to large amount of water, features falling outside measured spectrum. What features fall within spectrum?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6D5A8-5E5B-CF55-FE78-94DD85940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29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28A6-B739-EB25-277D-B1207114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69240-FD1C-C21D-2C0A-7ADCE4F88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EEE13-06CA-B313-792D-5A7C018FB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Convolve results from lab work with Europa Clipper. If still too faint, then work backwards from there.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D2D0-4DD6-B86B-170A-BBBD8432E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6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19DB-9B76-0D8D-B694-919DB3C1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80235-B4A5-555D-F4AA-6BF6A12C8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FB23-2A8E-683B-5693-351DF7F9E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91D11-ADE0-53C6-2174-D5C0C66CE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34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FC24D-1980-EDBE-44F0-D336DE1D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82B34-AD05-673A-CF9E-590C24EC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F067F-1C79-B314-A9C0-086D1B59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08C6E-FA1B-2412-F3AB-F2745F3FB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1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adsabs.harvard.edu/abs/2016JQSRT.177...15K" TargetMode="External"/><Relationship Id="rId3" Type="http://schemas.openxmlformats.org/officeDocument/2006/relationships/hyperlink" Target="https://doi.org/10.1126/science.1121290" TargetMode="External"/><Relationship Id="rId7" Type="http://schemas.openxmlformats.org/officeDocument/2006/relationships/hyperlink" Target="https://doi.org/10.1016/j.jqsrt.2016.03.00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icarus.2017.03.002" TargetMode="External"/><Relationship Id="rId5" Type="http://schemas.openxmlformats.org/officeDocument/2006/relationships/hyperlink" Target="https://doi.org/10.1029/2009gl039336" TargetMode="External"/><Relationship Id="rId4" Type="http://schemas.openxmlformats.org/officeDocument/2006/relationships/hyperlink" Target="https://doi.org/10.1038/nature0815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2A5C"/>
          </a:solidFill>
          <a:ln w="12700">
            <a:solidFill>
              <a:srgbClr val="002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4297680"/>
            <a:ext cx="2011680" cy="8458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4297680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Spectroscopy Lab Results</a:t>
            </a:r>
            <a:endParaRPr lang="en-US" sz="360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  ·  Raman  ·  UV-Vis  ·  XRD</a:t>
            </a:r>
            <a:endParaRPr lang="en-US" sz="1600"/>
          </a:p>
          <a:p>
            <a:pPr marL="0" indent="0">
              <a:lnSpc>
                <a:spcPct val="140000"/>
              </a:lnSpc>
              <a:buNone/>
            </a:pPr>
            <a:r>
              <a:rPr lang="en-US" sz="1600">
                <a:solidFill>
                  <a:srgbClr val="A8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Icy ·  Ward Depoorter· Pim van der Molen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2331720" y="437083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A8CEDD"/>
                </a:solidFill>
              </a:rPr>
              <a:t>Delft University of Technology  |   13/03/2026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FC5B91-F5E2-CD71-7F3A-940DB9A9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6" y="4297680"/>
            <a:ext cx="1832851" cy="739571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7AE6E116-6946-552F-BC73-EB6641D7B353}"/>
              </a:ext>
            </a:extLst>
          </p:cNvPr>
          <p:cNvSpPr/>
          <p:nvPr/>
        </p:nvSpPr>
        <p:spPr>
          <a:xfrm>
            <a:off x="50292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AE4899-25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8C3CC-7CB4-03C5-2B75-E1C46B54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C25024-A176-8378-25A1-2F25F4D04DF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DFB870-7FEB-2178-25B6-07BD0967525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RESEARCH QUESTION</a:t>
            </a:r>
            <a:endParaRPr lang="en-US"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FC04DE-487E-292E-C9B2-047D52431144}"/>
              </a:ext>
            </a:extLst>
          </p:cNvPr>
          <p:cNvSpPr/>
          <p:nvPr/>
        </p:nvSpPr>
        <p:spPr>
          <a:xfrm>
            <a:off x="640080" y="868680"/>
            <a:ext cx="7863840" cy="20116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74273A-493B-15F2-53CB-737EA4534BB0}"/>
              </a:ext>
            </a:extLst>
          </p:cNvPr>
          <p:cNvSpPr/>
          <p:nvPr/>
        </p:nvSpPr>
        <p:spPr>
          <a:xfrm>
            <a:off x="640080" y="868680"/>
            <a:ext cx="164592" cy="201168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8FCF9072-5E02-DB25-0575-EA1E1DC9B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5840"/>
            <a:ext cx="457200" cy="4572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090E832-1C31-2236-5253-C3BB146BE073}"/>
              </a:ext>
            </a:extLst>
          </p:cNvPr>
          <p:cNvSpPr/>
          <p:nvPr/>
        </p:nvSpPr>
        <p:spPr>
          <a:xfrm>
            <a:off x="1600200" y="896112"/>
            <a:ext cx="6492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the required resolution of a future VNIR measurement system to detect organics on Enceladus’ surface?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2F17BEB-E33E-F521-7E21-F906602633AD}"/>
              </a:ext>
            </a:extLst>
          </p:cNvPr>
          <p:cNvSpPr/>
          <p:nvPr/>
        </p:nvSpPr>
        <p:spPr>
          <a:xfrm>
            <a:off x="320040" y="3063240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D6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B48CC98-BF4B-994E-5002-73C1A1182800}"/>
              </a:ext>
            </a:extLst>
          </p:cNvPr>
          <p:cNvSpPr/>
          <p:nvPr/>
        </p:nvSpPr>
        <p:spPr>
          <a:xfrm>
            <a:off x="320040" y="3063240"/>
            <a:ext cx="2697480" cy="34747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62B2F8-7E45-95E5-439F-EDB8B51D9502}"/>
              </a:ext>
            </a:extLst>
          </p:cNvPr>
          <p:cNvSpPr/>
          <p:nvPr/>
        </p:nvSpPr>
        <p:spPr>
          <a:xfrm>
            <a:off x="32004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Objective 1</a:t>
            </a:r>
            <a:endParaRPr lang="en-US"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E96F98C-71E6-C92A-9E9A-18CB3C909856}"/>
              </a:ext>
            </a:extLst>
          </p:cNvPr>
          <p:cNvSpPr/>
          <p:nvPr/>
        </p:nvSpPr>
        <p:spPr>
          <a:xfrm>
            <a:off x="457200" y="3456432"/>
            <a:ext cx="2560320" cy="1298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What </a:t>
            </a:r>
            <a:r>
              <a:rPr lang="en-US" sz="1400" b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compounds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occur in Enceladus' plumes and at what </a:t>
            </a:r>
            <a:r>
              <a:rPr lang="en-US" sz="1400" b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concentration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400">
              <a:solidFill>
                <a:srgbClr val="1A2B3C"/>
              </a:solidFill>
              <a:ea typeface="Calibri"/>
              <a:cs typeface="Calibri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84EBED6-260C-FAA6-51CB-C6E060738ACD}"/>
              </a:ext>
            </a:extLst>
          </p:cNvPr>
          <p:cNvSpPr/>
          <p:nvPr/>
        </p:nvSpPr>
        <p:spPr>
          <a:xfrm>
            <a:off x="3337560" y="3063240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D6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0894BE5-4616-8820-45C3-0ABDF55EB782}"/>
              </a:ext>
            </a:extLst>
          </p:cNvPr>
          <p:cNvSpPr/>
          <p:nvPr/>
        </p:nvSpPr>
        <p:spPr>
          <a:xfrm>
            <a:off x="3337560" y="3063240"/>
            <a:ext cx="2697480" cy="34747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28BCED3-D2D9-20D6-AB96-E99EABCD66C6}"/>
              </a:ext>
            </a:extLst>
          </p:cNvPr>
          <p:cNvSpPr/>
          <p:nvPr/>
        </p:nvSpPr>
        <p:spPr>
          <a:xfrm>
            <a:off x="333756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Objective 2</a:t>
            </a:r>
            <a:endParaRPr lang="en-US" sz="11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BAC0DB0-8002-B5A2-6F87-4C983F79E459}"/>
              </a:ext>
            </a:extLst>
          </p:cNvPr>
          <p:cNvSpPr/>
          <p:nvPr/>
        </p:nvSpPr>
        <p:spPr>
          <a:xfrm>
            <a:off x="3474720" y="3456432"/>
            <a:ext cx="2560320" cy="1298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How does the concentration of these compounds affect their footprint in </a:t>
            </a:r>
            <a:r>
              <a:rPr lang="en-US" sz="1400" b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VNIR 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measurement?</a:t>
            </a:r>
            <a:endParaRPr lang="en-US" sz="2400" b="1">
              <a:ea typeface="Calibri"/>
              <a:cs typeface="Calibri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506D534-DCA7-9F96-E7C6-E225F0CA1388}"/>
              </a:ext>
            </a:extLst>
          </p:cNvPr>
          <p:cNvSpPr/>
          <p:nvPr/>
        </p:nvSpPr>
        <p:spPr>
          <a:xfrm>
            <a:off x="6355080" y="3063240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D6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6FB42B9-ABA3-0077-9B99-C6AF10EC27C5}"/>
              </a:ext>
            </a:extLst>
          </p:cNvPr>
          <p:cNvSpPr/>
          <p:nvPr/>
        </p:nvSpPr>
        <p:spPr>
          <a:xfrm>
            <a:off x="6355080" y="3063240"/>
            <a:ext cx="2697480" cy="34747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D28BB05-EA81-9224-1922-F9F565A6DE96}"/>
              </a:ext>
            </a:extLst>
          </p:cNvPr>
          <p:cNvSpPr/>
          <p:nvPr/>
        </p:nvSpPr>
        <p:spPr>
          <a:xfrm>
            <a:off x="6355080" y="3063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Objective 3</a:t>
            </a:r>
            <a:endParaRPr lang="en-US" sz="11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CB5ADAE-C652-9D9C-8D3E-BD3B689DEE63}"/>
              </a:ext>
            </a:extLst>
          </p:cNvPr>
          <p:cNvSpPr/>
          <p:nvPr/>
        </p:nvSpPr>
        <p:spPr>
          <a:xfrm>
            <a:off x="6408234" y="3456432"/>
            <a:ext cx="2644326" cy="1298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How does </a:t>
            </a:r>
            <a:r>
              <a:rPr lang="en-US" sz="1400" b="1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resolution</a:t>
            </a:r>
            <a:r>
              <a:rPr lang="en-US" sz="1400">
                <a:solidFill>
                  <a:srgbClr val="1A2B3C"/>
                </a:solidFill>
                <a:latin typeface="Calibri"/>
                <a:ea typeface="Calibri"/>
                <a:cs typeface="Calibri"/>
              </a:rPr>
              <a:t> (spatial, spectral &amp; radiometric) affect the ability of instruments to detect organics on Enceladus?</a:t>
            </a:r>
            <a:endParaRPr lang="en-US" sz="1400">
              <a:solidFill>
                <a:srgbClr val="1A2B3C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282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E5AE-51C9-6D1E-1FF2-3DECE2E9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8">
            <a:extLst>
              <a:ext uri="{FF2B5EF4-FFF2-40B4-BE49-F238E27FC236}">
                <a16:creationId xmlns:a16="http://schemas.microsoft.com/office/drawing/2014/main" id="{0BD09748-C115-DF00-ADA3-FBFAD6711B88}"/>
              </a:ext>
            </a:extLst>
          </p:cNvPr>
          <p:cNvSpPr/>
          <p:nvPr/>
        </p:nvSpPr>
        <p:spPr>
          <a:xfrm>
            <a:off x="7052940" y="866968"/>
            <a:ext cx="1862460" cy="239832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77F07F-B111-DC41-CA2F-CFB3BC403643}"/>
              </a:ext>
            </a:extLst>
          </p:cNvPr>
          <p:cNvSpPr/>
          <p:nvPr/>
        </p:nvSpPr>
        <p:spPr>
          <a:xfrm>
            <a:off x="228600" y="866968"/>
            <a:ext cx="3461008" cy="2455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04E6FD2-7855-68A1-2684-03FE97863EE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5725260-6CCC-B908-711F-5DEE82107BA3}"/>
              </a:ext>
            </a:extLst>
          </p:cNvPr>
          <p:cNvSpPr/>
          <p:nvPr/>
        </p:nvSpPr>
        <p:spPr>
          <a:xfrm>
            <a:off x="1029155" y="607091"/>
            <a:ext cx="1664877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183117-261B-84D5-2712-BA039EDE97B5}"/>
              </a:ext>
            </a:extLst>
          </p:cNvPr>
          <p:cNvSpPr/>
          <p:nvPr/>
        </p:nvSpPr>
        <p:spPr>
          <a:xfrm>
            <a:off x="7159082" y="607091"/>
            <a:ext cx="1664877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F33DAE2-8359-9172-95B0-3A5F9430127D}"/>
              </a:ext>
            </a:extLst>
          </p:cNvPr>
          <p:cNvSpPr/>
          <p:nvPr/>
        </p:nvSpPr>
        <p:spPr>
          <a:xfrm>
            <a:off x="4172399" y="866968"/>
            <a:ext cx="2423160" cy="2455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86B5990-0CAC-59DE-59C9-D9ACA3E0C81E}"/>
              </a:ext>
            </a:extLst>
          </p:cNvPr>
          <p:cNvSpPr/>
          <p:nvPr/>
        </p:nvSpPr>
        <p:spPr>
          <a:xfrm>
            <a:off x="4423859" y="607092"/>
            <a:ext cx="1920240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58B877-89EA-AA42-9470-61D60B40F2E1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 Enceladus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665090-2ABC-9D75-AE94-08B6DD02C3DF}"/>
              </a:ext>
            </a:extLst>
          </p:cNvPr>
          <p:cNvSpPr/>
          <p:nvPr/>
        </p:nvSpPr>
        <p:spPr>
          <a:xfrm>
            <a:off x="997497" y="411480"/>
            <a:ext cx="17343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Plumes</a:t>
            </a:r>
            <a:endParaRPr lang="en-US" sz="16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FED502-FAE0-8D2C-BFBA-D2B192D5C206}"/>
              </a:ext>
            </a:extLst>
          </p:cNvPr>
          <p:cNvSpPr/>
          <p:nvPr/>
        </p:nvSpPr>
        <p:spPr>
          <a:xfrm>
            <a:off x="3721611" y="2171700"/>
            <a:ext cx="347472" cy="457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9D79F60-2970-1774-AB19-7020D3658B60}"/>
              </a:ext>
            </a:extLst>
          </p:cNvPr>
          <p:cNvSpPr/>
          <p:nvPr/>
        </p:nvSpPr>
        <p:spPr>
          <a:xfrm>
            <a:off x="5175507" y="1463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B83E933-7F6D-9ABF-28A4-3341EE85464D}"/>
              </a:ext>
            </a:extLst>
          </p:cNvPr>
          <p:cNvSpPr/>
          <p:nvPr/>
        </p:nvSpPr>
        <p:spPr>
          <a:xfrm>
            <a:off x="228600" y="3481678"/>
            <a:ext cx="8686800" cy="1193426"/>
          </a:xfrm>
          <a:prstGeom prst="rect">
            <a:avLst/>
          </a:prstGeom>
          <a:solidFill>
            <a:srgbClr val="E0F4FC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F46DE19-6D28-06B6-2547-ABDF9735A4C5}"/>
              </a:ext>
            </a:extLst>
          </p:cNvPr>
          <p:cNvSpPr/>
          <p:nvPr/>
        </p:nvSpPr>
        <p:spPr>
          <a:xfrm>
            <a:off x="411480" y="3461339"/>
            <a:ext cx="8412480" cy="1026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observe?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Ice &amp; water bands around 3 </a:t>
            </a:r>
            <a:r>
              <a:rPr lang="el-GR" sz="1600"/>
              <a:t>μ</a:t>
            </a:r>
            <a:r>
              <a:rPr lang="nl-NL" sz="1600"/>
              <a:t>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 pitchFamily="34" charset="0"/>
                <a:ea typeface="Calibri" pitchFamily="34" charset="-122"/>
                <a:cs typeface="Calibri" pitchFamily="34" charset="-120"/>
              </a:rPr>
              <a:t>Weak 3.5 </a:t>
            </a:r>
            <a:r>
              <a:rPr lang="el-GR" sz="1600"/>
              <a:t>μ</a:t>
            </a:r>
            <a:r>
              <a:rPr lang="nl-NL" sz="1600"/>
              <a:t>m feature</a:t>
            </a:r>
            <a:endParaRPr lang="en-US" sz="160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002060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0180D77-27E1-1538-CD15-F9630C58B57F}"/>
              </a:ext>
            </a:extLst>
          </p:cNvPr>
          <p:cNvSpPr/>
          <p:nvPr/>
        </p:nvSpPr>
        <p:spPr>
          <a:xfrm>
            <a:off x="6656835" y="2194560"/>
            <a:ext cx="347472" cy="45719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94B2E32B-9715-5663-6C13-7633304EF198}"/>
              </a:ext>
            </a:extLst>
          </p:cNvPr>
          <p:cNvSpPr/>
          <p:nvPr/>
        </p:nvSpPr>
        <p:spPr>
          <a:xfrm>
            <a:off x="7052940" y="40098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Features (VNIR)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42C6D8-32E4-F53B-45B1-C24F38194FD3}"/>
              </a:ext>
            </a:extLst>
          </p:cNvPr>
          <p:cNvSpPr/>
          <p:nvPr/>
        </p:nvSpPr>
        <p:spPr>
          <a:xfrm>
            <a:off x="4411298" y="411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Contents (sub-selection)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BCE708-7A92-72A0-5415-5FC82A7DE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96" y="1195387"/>
            <a:ext cx="2589313" cy="174661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F9768AF-8E6D-3550-9731-081529E45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71013"/>
              </p:ext>
            </p:extLst>
          </p:nvPr>
        </p:nvGraphicFramePr>
        <p:xfrm>
          <a:off x="4298003" y="1323340"/>
          <a:ext cx="217195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971">
                  <a:extLst>
                    <a:ext uri="{9D8B030D-6E8A-4147-A177-3AD203B41FA5}">
                      <a16:colId xmlns:a16="http://schemas.microsoft.com/office/drawing/2014/main" val="3862139074"/>
                    </a:ext>
                  </a:extLst>
                </a:gridCol>
                <a:gridCol w="1222980">
                  <a:extLst>
                    <a:ext uri="{9D8B030D-6E8A-4147-A177-3AD203B41FA5}">
                      <a16:colId xmlns:a16="http://schemas.microsoft.com/office/drawing/2014/main" val="2820019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sz="1200"/>
                        <a:t>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Concentration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6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200"/>
                        <a:t>Methane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kern="100">
                          <a:effectLst/>
                        </a:rPr>
                        <a:t>0.91 [1] ~ 1.68 [2]</a:t>
                      </a:r>
                      <a:endParaRPr lang="nl-N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22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200"/>
                        <a:t>Methanol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kern="100">
                          <a:effectLst/>
                        </a:rPr>
                        <a:t>0.015 [1]</a:t>
                      </a:r>
                      <a:endParaRPr lang="nl-N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45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1200"/>
                        <a:t>Formaldehyde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effectLst/>
                        </a:rPr>
                        <a:t>0.31 [1]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nl-N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0681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CD49EC9-FFA8-8E1B-5AE2-B27F34B07331}"/>
              </a:ext>
            </a:extLst>
          </p:cNvPr>
          <p:cNvSpPr txBox="1"/>
          <p:nvPr/>
        </p:nvSpPr>
        <p:spPr>
          <a:xfrm>
            <a:off x="156117" y="4681835"/>
            <a:ext cx="2575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/>
              <a:t>[1]: Waite, 2009</a:t>
            </a:r>
          </a:p>
          <a:p>
            <a:r>
              <a:rPr lang="nl-NL" sz="800"/>
              <a:t>[2]: Waite, 2006</a:t>
            </a:r>
          </a:p>
          <a:p>
            <a:r>
              <a:rPr lang="nl-NL" sz="800"/>
              <a:t>[3]: Dhingra, 2017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F79A9F3-414B-645D-C717-896EFD116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51879"/>
              </p:ext>
            </p:extLst>
          </p:nvPr>
        </p:nvGraphicFramePr>
        <p:xfrm>
          <a:off x="7116991" y="1312628"/>
          <a:ext cx="1706967" cy="179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967">
                  <a:extLst>
                    <a:ext uri="{9D8B030D-6E8A-4147-A177-3AD203B41FA5}">
                      <a16:colId xmlns:a16="http://schemas.microsoft.com/office/drawing/2014/main" val="2383798185"/>
                    </a:ext>
                  </a:extLst>
                </a:gridCol>
              </a:tblGrid>
              <a:tr h="438288">
                <a:tc>
                  <a:txBody>
                    <a:bodyPr/>
                    <a:lstStyle/>
                    <a:p>
                      <a:r>
                        <a:rPr lang="nl-NL" sz="1200"/>
                        <a:t>Feature / Wavelength (</a:t>
                      </a:r>
                      <a:r>
                        <a:rPr lang="el-GR" sz="1200"/>
                        <a:t>μ</a:t>
                      </a:r>
                      <a:r>
                        <a:rPr lang="nl-NL" sz="1200"/>
                        <a:t>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470386"/>
                  </a:ext>
                </a:extLst>
              </a:tr>
              <a:tr h="438288">
                <a:tc>
                  <a:txBody>
                    <a:bodyPr/>
                    <a:lstStyle/>
                    <a:p>
                      <a:r>
                        <a:rPr lang="nl-NL" sz="1200"/>
                        <a:t>C-H stretch (3.3)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848427"/>
                  </a:ext>
                </a:extLst>
              </a:tr>
              <a:tr h="438288">
                <a:tc>
                  <a:txBody>
                    <a:bodyPr/>
                    <a:lstStyle/>
                    <a:p>
                      <a:r>
                        <a:rPr lang="nl-NL" sz="1200"/>
                        <a:t>Band complex (3.4)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176522"/>
                  </a:ext>
                </a:extLst>
              </a:tr>
              <a:tr h="438288">
                <a:tc>
                  <a:txBody>
                    <a:bodyPr/>
                    <a:lstStyle/>
                    <a:p>
                      <a:r>
                        <a:rPr lang="nl-NL" sz="1200"/>
                        <a:t>Electronic transitions (0.30~0.34)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651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164E998-0382-43DF-A6F6-BAA65A7A1633}"/>
              </a:ext>
            </a:extLst>
          </p:cNvPr>
          <p:cNvSpPr txBox="1"/>
          <p:nvPr/>
        </p:nvSpPr>
        <p:spPr>
          <a:xfrm>
            <a:off x="410895" y="2926080"/>
            <a:ext cx="2993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/>
              <a:t>Plumes ejecting material around the South Polar Region from the Tiger Stripes [3]</a:t>
            </a:r>
          </a:p>
        </p:txBody>
      </p:sp>
    </p:spTree>
    <p:extLst>
      <p:ext uri="{BB962C8B-B14F-4D97-AF65-F5344CB8AC3E}">
        <p14:creationId xmlns:p14="http://schemas.microsoft.com/office/powerpoint/2010/main" val="49842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5D69-7734-4636-A536-FBDFA1EB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0EFABA-44FC-58F7-4282-BED06D0DAED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106D3E-4BF9-6E0D-C558-103ED8B5C38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Effect of concentration on footprint</a:t>
            </a:r>
            <a:endParaRPr lang="en-US"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ED3B70-4067-77B2-6561-98C1CBF3C10A}"/>
              </a:ext>
            </a:extLst>
          </p:cNvPr>
          <p:cNvSpPr/>
          <p:nvPr/>
        </p:nvSpPr>
        <p:spPr>
          <a:xfrm>
            <a:off x="287383" y="801732"/>
            <a:ext cx="3912326" cy="3785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92022E-08EA-536E-AA74-0ACDE9E912D9}"/>
              </a:ext>
            </a:extLst>
          </p:cNvPr>
          <p:cNvSpPr/>
          <p:nvPr/>
        </p:nvSpPr>
        <p:spPr>
          <a:xfrm>
            <a:off x="4436473" y="793568"/>
            <a:ext cx="4411979" cy="144344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5A15E1-22B5-01AE-9724-17A03D3BE38D}"/>
              </a:ext>
            </a:extLst>
          </p:cNvPr>
          <p:cNvSpPr/>
          <p:nvPr/>
        </p:nvSpPr>
        <p:spPr>
          <a:xfrm>
            <a:off x="4660501" y="804672"/>
            <a:ext cx="4044587" cy="35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3D7C"/>
                </a:solidFill>
              </a:rPr>
              <a:t>Comparing measurements to lab experiments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9FC1E1-983C-ACDC-CA9F-90A75307E3D8}"/>
              </a:ext>
            </a:extLst>
          </p:cNvPr>
          <p:cNvSpPr/>
          <p:nvPr/>
        </p:nvSpPr>
        <p:spPr>
          <a:xfrm>
            <a:off x="4652337" y="1154104"/>
            <a:ext cx="4052751" cy="10760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nl-NL" sz="1200" i="1"/>
              <a:t>Dashed line: pure methanol at 100 K. </a:t>
            </a:r>
          </a:p>
          <a:p>
            <a:r>
              <a:rPr lang="nl-NL" sz="1200" i="1"/>
              <a:t>Solid line: 1% methanol in crystalline water at 140 K. </a:t>
            </a:r>
          </a:p>
          <a:p>
            <a:r>
              <a:rPr lang="nl-NL" sz="1200" i="1"/>
              <a:t>Crosses: global average on Enceladus. </a:t>
            </a:r>
          </a:p>
          <a:p>
            <a:r>
              <a:rPr lang="nl-NL" sz="1200" i="1"/>
              <a:t>Squares: Enceladus around tiger stripes. </a:t>
            </a:r>
          </a:p>
          <a:p>
            <a:r>
              <a:rPr lang="nl-NL" sz="1200" i="1"/>
              <a:t>Stars: Enceladus tiger stripes.</a:t>
            </a:r>
          </a:p>
          <a:p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D51E021-1D2B-D82B-7F1A-0E2E9101CCE5}"/>
              </a:ext>
            </a:extLst>
          </p:cNvPr>
          <p:cNvSpPr/>
          <p:nvPr/>
        </p:nvSpPr>
        <p:spPr>
          <a:xfrm>
            <a:off x="4415733" y="2410839"/>
            <a:ext cx="4411979" cy="2155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 b="1">
                <a:solidFill>
                  <a:srgbClr val="003D7C"/>
                </a:solidFill>
              </a:rPr>
              <a:t>Presence</a:t>
            </a:r>
          </a:p>
          <a:p>
            <a:r>
              <a:rPr lang="en-US" sz="1600"/>
              <a:t>Higher concentration of organics near regions with plume activity.</a:t>
            </a:r>
          </a:p>
          <a:p>
            <a:r>
              <a:rPr lang="en-US" sz="1600"/>
              <a:t>Competing effects; raised temperatures reduce methanol trapping.</a:t>
            </a:r>
          </a:p>
          <a:p>
            <a:endParaRPr lang="en-US" sz="1600"/>
          </a:p>
          <a:p>
            <a:endParaRPr lang="en-US" sz="16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88181C-DB02-1981-5AFE-E59DCE334592}"/>
              </a:ext>
            </a:extLst>
          </p:cNvPr>
          <p:cNvSpPr/>
          <p:nvPr/>
        </p:nvSpPr>
        <p:spPr>
          <a:xfrm>
            <a:off x="4562530" y="2442428"/>
            <a:ext cx="4142558" cy="36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4918EB5-6D2A-7B54-FD17-41EDCF067CDB}"/>
              </a:ext>
            </a:extLst>
          </p:cNvPr>
          <p:cNvSpPr/>
          <p:nvPr/>
        </p:nvSpPr>
        <p:spPr>
          <a:xfrm>
            <a:off x="4562530" y="2808188"/>
            <a:ext cx="4142558" cy="1237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C5C5DC0-AD44-1DCB-2715-BD13262883F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A9EC61-29A2-98B7-43E8-CCB19A76C975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74B13-2487-C803-BA50-131671B49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03" y="933309"/>
            <a:ext cx="3234599" cy="32768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8DE888-F176-B6B2-4930-B107BFC1EB10}"/>
              </a:ext>
            </a:extLst>
          </p:cNvPr>
          <p:cNvSpPr txBox="1"/>
          <p:nvPr/>
        </p:nvSpPr>
        <p:spPr>
          <a:xfrm>
            <a:off x="438615" y="4225058"/>
            <a:ext cx="349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/>
              <a:t>Reflectance &amp; transmission spectra relating laboratory analogues to Enceladus’ surface [Hodyss, 2009]</a:t>
            </a:r>
          </a:p>
        </p:txBody>
      </p:sp>
    </p:spTree>
    <p:extLst>
      <p:ext uri="{BB962C8B-B14F-4D97-AF65-F5344CB8AC3E}">
        <p14:creationId xmlns:p14="http://schemas.microsoft.com/office/powerpoint/2010/main" val="88141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2524FC-078E-3CD9-1D03-4F2E7552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235C99-4112-0A7E-D7CF-0ACC86D889D3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3E70C9-356E-23E2-FE85-80D6EE79F4E7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Formaldehyde</a:t>
            </a:r>
            <a:endParaRPr lang="en-US"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ABE992-8DDA-1E4A-7767-7D466C365E33}"/>
              </a:ext>
            </a:extLst>
          </p:cNvPr>
          <p:cNvSpPr/>
          <p:nvPr/>
        </p:nvSpPr>
        <p:spPr>
          <a:xfrm>
            <a:off x="287383" y="801732"/>
            <a:ext cx="3912326" cy="3785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B7CABE-4FB1-96EA-25FB-2108C91148A4}"/>
              </a:ext>
            </a:extLst>
          </p:cNvPr>
          <p:cNvSpPr/>
          <p:nvPr/>
        </p:nvSpPr>
        <p:spPr>
          <a:xfrm>
            <a:off x="4436473" y="793568"/>
            <a:ext cx="4411979" cy="144344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53D526-8404-45B0-73C2-9BBDC6F523D7}"/>
              </a:ext>
            </a:extLst>
          </p:cNvPr>
          <p:cNvSpPr/>
          <p:nvPr/>
        </p:nvSpPr>
        <p:spPr>
          <a:xfrm>
            <a:off x="4660501" y="804672"/>
            <a:ext cx="4044587" cy="35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D7C"/>
                </a:solidFill>
              </a:rPr>
              <a:t>Comparing measurements to lab experiments</a:t>
            </a: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0C8FD0-F06B-8AB8-266F-DFA5E5408E08}"/>
              </a:ext>
            </a:extLst>
          </p:cNvPr>
          <p:cNvSpPr/>
          <p:nvPr/>
        </p:nvSpPr>
        <p:spPr>
          <a:xfrm>
            <a:off x="4652337" y="1154104"/>
            <a:ext cx="4052751" cy="10760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nl-NL" sz="1200"/>
              <a:t>Laboratory transmission &amp; VIMS reflectance data. </a:t>
            </a:r>
          </a:p>
          <a:p>
            <a:r>
              <a:rPr lang="nl-NL" sz="1200"/>
              <a:t>Dashed line: pure methanol at 100 K. </a:t>
            </a:r>
          </a:p>
          <a:p>
            <a:r>
              <a:rPr lang="nl-NL" sz="1200"/>
              <a:t>Solid line: 1% methanol in crystalline water at 140 K. </a:t>
            </a:r>
          </a:p>
          <a:p>
            <a:r>
              <a:rPr lang="nl-NL" sz="1200"/>
              <a:t>Crosses: global average on Enceladus. </a:t>
            </a:r>
          </a:p>
          <a:p>
            <a:r>
              <a:rPr lang="nl-NL" sz="1200"/>
              <a:t>Squares: Enceladus around tiger stripes. </a:t>
            </a:r>
          </a:p>
          <a:p>
            <a:r>
              <a:rPr lang="nl-NL" sz="1200"/>
              <a:t>Stars: Enceladus tiger stripes.</a:t>
            </a:r>
          </a:p>
          <a:p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711E13-A84F-0706-CF53-4A5A577B0FD2}"/>
              </a:ext>
            </a:extLst>
          </p:cNvPr>
          <p:cNvSpPr/>
          <p:nvPr/>
        </p:nvSpPr>
        <p:spPr>
          <a:xfrm>
            <a:off x="4415733" y="2410839"/>
            <a:ext cx="4411979" cy="2155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 sz="1200" b="1">
                <a:solidFill>
                  <a:srgbClr val="003D7C"/>
                </a:solidFill>
              </a:rPr>
              <a:t>Presence</a:t>
            </a:r>
          </a:p>
          <a:p>
            <a:r>
              <a:rPr lang="en-US" sz="1200"/>
              <a:t>Higher concentration of organics near regions with plume activity.</a:t>
            </a:r>
          </a:p>
          <a:p>
            <a:r>
              <a:rPr lang="en-US" sz="1200"/>
              <a:t>However, close to craters, temperature is slightly higher, making it harder for ice to trap methanol.</a:t>
            </a:r>
          </a:p>
          <a:p>
            <a:endParaRPr lang="en-US" sz="1200"/>
          </a:p>
          <a:p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7264A1-98FC-5D16-77E6-DB19214A6240}"/>
              </a:ext>
            </a:extLst>
          </p:cNvPr>
          <p:cNvSpPr/>
          <p:nvPr/>
        </p:nvSpPr>
        <p:spPr>
          <a:xfrm>
            <a:off x="4562530" y="2442428"/>
            <a:ext cx="4142558" cy="36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BAD947-069D-BA32-4E13-F498C83535E9}"/>
              </a:ext>
            </a:extLst>
          </p:cNvPr>
          <p:cNvSpPr/>
          <p:nvPr/>
        </p:nvSpPr>
        <p:spPr>
          <a:xfrm>
            <a:off x="4562530" y="2808188"/>
            <a:ext cx="4142558" cy="1237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FB5AC67-F8B8-89D6-A096-99D7AEBE35AC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A0A3A8F-9ADD-438F-49CC-DD421F7C52BE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CEDD"/>
                </a:solidFill>
              </a:rPr>
              <a:t>Fourier Transform Infrared Spectroscopy  |  Range: 4000–600 cm⁻¹</a:t>
            </a:r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C0837-565E-9E1C-EB2B-B80DBC643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03" y="933309"/>
            <a:ext cx="3234599" cy="32768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3788C8-7551-E951-3A10-FEEF40AEEBEC}"/>
              </a:ext>
            </a:extLst>
          </p:cNvPr>
          <p:cNvSpPr txBox="1"/>
          <p:nvPr/>
        </p:nvSpPr>
        <p:spPr>
          <a:xfrm>
            <a:off x="438615" y="4225058"/>
            <a:ext cx="349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i="1"/>
              <a:t>Reflectance &amp; transmission spectra relating laboratory to Enceladus surface [Hodyss, 2009]</a:t>
            </a:r>
          </a:p>
        </p:txBody>
      </p:sp>
    </p:spTree>
    <p:extLst>
      <p:ext uri="{BB962C8B-B14F-4D97-AF65-F5344CB8AC3E}">
        <p14:creationId xmlns:p14="http://schemas.microsoft.com/office/powerpoint/2010/main" val="306405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VIMS Limitations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287383" y="801732"/>
            <a:ext cx="3912326" cy="3785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36473" y="793568"/>
            <a:ext cx="4411979" cy="182612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0501" y="804672"/>
            <a:ext cx="4044587" cy="35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003D7C"/>
                </a:solidFill>
              </a:rPr>
              <a:t>VIMS: 0.3-5 </a:t>
            </a:r>
            <a:r>
              <a:rPr lang="en-US" b="1" err="1">
                <a:solidFill>
                  <a:srgbClr val="003D7C"/>
                </a:solidFill>
              </a:rPr>
              <a:t>μm</a:t>
            </a:r>
            <a:r>
              <a:rPr lang="en-US" b="1">
                <a:solidFill>
                  <a:srgbClr val="003D7C"/>
                </a:solidFill>
              </a:rPr>
              <a:t>              </a:t>
            </a:r>
            <a:r>
              <a:rPr lang="en-US" sz="1400" b="1">
                <a:solidFill>
                  <a:srgbClr val="003D7C"/>
                </a:solidFill>
              </a:rPr>
              <a:t>( 3.3e4 – 2000 [cm-1] )</a:t>
            </a:r>
          </a:p>
        </p:txBody>
      </p:sp>
      <p:sp>
        <p:nvSpPr>
          <p:cNvPr id="8" name="Text 6"/>
          <p:cNvSpPr/>
          <p:nvPr/>
        </p:nvSpPr>
        <p:spPr>
          <a:xfrm>
            <a:off x="4572001" y="1154103"/>
            <a:ext cx="4133088" cy="14766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C-H stretch visible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C=O invisible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/>
              <a:t>Fingerprint region invisible: complex organics</a:t>
            </a:r>
          </a:p>
          <a:p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15733" y="2740261"/>
            <a:ext cx="4411979" cy="182612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/>
              <a:t>Low spatial resolution: ~300m/pixel on closest flyby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/>
              <a:t>Others in order of km/pixel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/>
              <a:t>Issue: VIMS cannot explain plume composition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62530" y="2442428"/>
            <a:ext cx="4142558" cy="363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62530" y="2808188"/>
            <a:ext cx="4142558" cy="1237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CEDD"/>
                </a:solidFill>
              </a:rPr>
              <a:t>VIMS|  Range: 3.3e4 – 2000 cm⁻¹</a:t>
            </a:r>
            <a:endParaRPr lang="en-US" sz="1000"/>
          </a:p>
        </p:txBody>
      </p:sp>
      <p:pic>
        <p:nvPicPr>
          <p:cNvPr id="15" name="Picture 1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F40CD94-6C00-DFB6-48BA-3AD376BA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07" y="979714"/>
            <a:ext cx="3491709" cy="29146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8079265-1101-90EB-CDAA-1551D763AE85}"/>
              </a:ext>
            </a:extLst>
          </p:cNvPr>
          <p:cNvSpPr/>
          <p:nvPr/>
        </p:nvSpPr>
        <p:spPr>
          <a:xfrm>
            <a:off x="764177" y="1154104"/>
            <a:ext cx="1750423" cy="2740259"/>
          </a:xfrm>
          <a:prstGeom prst="rect">
            <a:avLst/>
          </a:prstGeom>
          <a:solidFill>
            <a:schemeClr val="accent1"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16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Recently flown VNIR Instruments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286910" y="793804"/>
            <a:ext cx="2754163" cy="3630711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endParaRPr lang="en-US" sz="900"/>
          </a:p>
          <a:p>
            <a:r>
              <a:rPr lang="en-US" sz="900"/>
              <a:t>Source: NASA</a:t>
            </a:r>
          </a:p>
        </p:txBody>
      </p:sp>
      <p:sp>
        <p:nvSpPr>
          <p:cNvPr id="6" name="Shape 4"/>
          <p:cNvSpPr/>
          <p:nvPr/>
        </p:nvSpPr>
        <p:spPr>
          <a:xfrm>
            <a:off x="3463636" y="749808"/>
            <a:ext cx="5360324" cy="777240"/>
          </a:xfrm>
          <a:prstGeom prst="rect">
            <a:avLst/>
          </a:prstGeom>
          <a:solidFill>
            <a:srgbClr val="003D7C"/>
          </a:solidFill>
          <a:ln w="19050">
            <a:solidFill>
              <a:srgbClr val="00A6D6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Europa clipper MISE</a:t>
            </a:r>
          </a:p>
          <a:p>
            <a:r>
              <a:rPr lang="en-US" sz="1400">
                <a:solidFill>
                  <a:schemeClr val="bg1"/>
                </a:solidFill>
              </a:rPr>
              <a:t>(Mapping Imaging Spectrometer for Europa)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755201" y="795528"/>
            <a:ext cx="16455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79552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3463636" y="1691640"/>
            <a:ext cx="5360324" cy="11064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D6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Same wavelength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10 nm spectral resolution (Vims: 16nm)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Higher spatial resolution (25-300m/pixel)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Higher </a:t>
            </a:r>
            <a:r>
              <a:rPr lang="en-US" sz="1400" err="1"/>
              <a:t>SnR</a:t>
            </a:r>
            <a:r>
              <a:rPr lang="en-US" sz="1400"/>
              <a:t> in C-H absorption band!</a:t>
            </a:r>
          </a:p>
        </p:txBody>
      </p:sp>
      <p:sp>
        <p:nvSpPr>
          <p:cNvPr id="10" name="Text 8"/>
          <p:cNvSpPr/>
          <p:nvPr/>
        </p:nvSpPr>
        <p:spPr>
          <a:xfrm>
            <a:off x="4646341" y="1709928"/>
            <a:ext cx="16630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6400800" y="170992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463636" y="2944368"/>
            <a:ext cx="5406044" cy="14493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Vims: global, large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MISE: distinguish weak, local surface features from ice dominated surface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Enceladus orbiter with MISE equivalent: great results</a:t>
            </a:r>
          </a:p>
        </p:txBody>
      </p:sp>
      <p:sp>
        <p:nvSpPr>
          <p:cNvPr id="13" name="Text 11"/>
          <p:cNvSpPr/>
          <p:nvPr/>
        </p:nvSpPr>
        <p:spPr>
          <a:xfrm>
            <a:off x="4585916" y="2679192"/>
            <a:ext cx="212875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321808" y="304495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A8CEDD"/>
                </a:solidFill>
              </a:rPr>
              <a:t>Case study  |  MISE , Europa clipper|</a:t>
            </a:r>
            <a:endParaRPr lang="en-US" sz="1000"/>
          </a:p>
        </p:txBody>
      </p:sp>
      <p:pic>
        <p:nvPicPr>
          <p:cNvPr id="1026" name="Picture 2" descr="Europa Clipper’s Mapping Imaging Spectrometer for Europa, or MISE ...">
            <a:extLst>
              <a:ext uri="{FF2B5EF4-FFF2-40B4-BE49-F238E27FC236}">
                <a16:creationId xmlns:a16="http://schemas.microsoft.com/office/drawing/2014/main" id="{B0CA0C11-D7A6-0EC4-98F4-4488B4822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77" y="937512"/>
            <a:ext cx="2450066" cy="326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38045" y="958090"/>
            <a:ext cx="5892440" cy="3478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Resolving power: VIMS vs MISE VS PE-100</a:t>
            </a:r>
            <a:endParaRPr lang="en-US" sz="13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/>
              <p:cNvSpPr/>
              <p:nvPr/>
            </p:nvSpPr>
            <p:spPr>
              <a:xfrm>
                <a:off x="6073293" y="836089"/>
                <a:ext cx="2929246" cy="360078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0E9F5"/>
                </a:solidFill>
                <a:prstDash val="solid"/>
              </a:ln>
              <a:effectLst>
                <a:outerShdw blurRad="101600" dist="38100" dir="8100000" algn="bl" rotWithShape="0">
                  <a:srgbClr val="003D7C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/>
                  <a:t>  </a:t>
                </a:r>
                <a:r>
                  <a:rPr lang="en-US" sz="1400"/>
                  <a:t>(changes with wavenumber)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HITRAN: quantum transitions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Enceladus conditions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‘Simulates’ instrument performance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Limitation: HITRAN uses gasses</a:t>
                </a:r>
              </a:p>
            </p:txBody>
          </p:sp>
        </mc:Choice>
        <mc:Fallback xmlns="">
          <p:sp>
            <p:nvSpPr>
              <p:cNvPr id="6" name="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293" y="836089"/>
                <a:ext cx="2929246" cy="360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0E9F5"/>
                </a:solidFill>
                <a:prstDash val="solid"/>
              </a:ln>
              <a:effectLst>
                <a:outerShdw blurRad="101600" dist="38100" dir="8100000" algn="bl" rotWithShape="0">
                  <a:srgbClr val="003D7C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6162325" y="898691"/>
            <a:ext cx="2373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3D7C"/>
                </a:solidFill>
              </a:rPr>
              <a:t>Resolving power 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321808" y="1170432"/>
            <a:ext cx="35478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baseline="30000"/>
          </a:p>
        </p:txBody>
      </p:sp>
      <p:sp>
        <p:nvSpPr>
          <p:cNvPr id="10" name="Text 8"/>
          <p:cNvSpPr/>
          <p:nvPr/>
        </p:nvSpPr>
        <p:spPr>
          <a:xfrm>
            <a:off x="6162325" y="2802636"/>
            <a:ext cx="33472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>
              <a:solidFill>
                <a:srgbClr val="003D7C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099166" y="2816352"/>
            <a:ext cx="460592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CEDD"/>
                </a:solidFill>
              </a:rPr>
              <a:t>Resolving Power | VIMS, MISE, PE-100</a:t>
            </a:r>
            <a:endParaRPr lang="en-US" sz="10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DB5C43-31ED-FAF5-312E-324BCF95FE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2" t="-726" r="8233" b="726"/>
          <a:stretch>
            <a:fillRect/>
          </a:stretch>
        </p:blipFill>
        <p:spPr>
          <a:xfrm>
            <a:off x="180853" y="1007310"/>
            <a:ext cx="5806824" cy="3321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E73B-2723-6F8A-3A3D-3AA8923A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7CE517D-DD62-EDE6-F53E-14243C036E39}"/>
              </a:ext>
            </a:extLst>
          </p:cNvPr>
          <p:cNvSpPr/>
          <p:nvPr/>
        </p:nvSpPr>
        <p:spPr>
          <a:xfrm>
            <a:off x="138045" y="958090"/>
            <a:ext cx="5356026" cy="3478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94E5BEC-88B9-2337-F6DA-0940EBEF78F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343190-1EA1-881A-DA87-F25E648D2EF2}"/>
              </a:ext>
            </a:extLst>
          </p:cNvPr>
          <p:cNvSpPr/>
          <p:nvPr/>
        </p:nvSpPr>
        <p:spPr>
          <a:xfrm>
            <a:off x="0" y="13921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Verification: H2O LAB vs HITRAN</a:t>
            </a:r>
            <a:endParaRPr lang="en-US"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B73EC2-B92C-7C1A-3B10-72C78DE1BCFF}"/>
              </a:ext>
            </a:extLst>
          </p:cNvPr>
          <p:cNvSpPr/>
          <p:nvPr/>
        </p:nvSpPr>
        <p:spPr>
          <a:xfrm>
            <a:off x="6162325" y="898691"/>
            <a:ext cx="23737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33D7C9-330A-2998-48DF-BBB77F62C2E9}"/>
              </a:ext>
            </a:extLst>
          </p:cNvPr>
          <p:cNvSpPr/>
          <p:nvPr/>
        </p:nvSpPr>
        <p:spPr>
          <a:xfrm>
            <a:off x="6162325" y="2802636"/>
            <a:ext cx="33472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>
              <a:solidFill>
                <a:srgbClr val="003D7C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2BD00E-EC5B-9E5B-CB62-6C101700A633}"/>
              </a:ext>
            </a:extLst>
          </p:cNvPr>
          <p:cNvSpPr/>
          <p:nvPr/>
        </p:nvSpPr>
        <p:spPr>
          <a:xfrm>
            <a:off x="4099166" y="2816352"/>
            <a:ext cx="460592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A2E7A99-9C06-04AC-FA73-FDBC85D743B6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1E9743-955A-624A-5AE7-7973C2DF3453}"/>
              </a:ext>
            </a:extLst>
          </p:cNvPr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CEDD"/>
                </a:solidFill>
              </a:rPr>
              <a:t>Resolving Power | VIMS, MISE, PE-100</a:t>
            </a:r>
            <a:endParaRPr lang="en-US" sz="10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ACA39C2-AE37-276E-6B64-F02D118A91FC}"/>
              </a:ext>
            </a:extLst>
          </p:cNvPr>
          <p:cNvSpPr/>
          <p:nvPr/>
        </p:nvSpPr>
        <p:spPr>
          <a:xfrm>
            <a:off x="5658662" y="958090"/>
            <a:ext cx="3347293" cy="34787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 b="1">
                <a:solidFill>
                  <a:srgbClr val="003D7C"/>
                </a:solidFill>
              </a:rPr>
              <a:t>Verification: H2O</a:t>
            </a:r>
          </a:p>
          <a:p>
            <a:endParaRPr lang="en-US" b="1">
              <a:solidFill>
                <a:srgbClr val="003D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Large features are there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rgbClr val="003D7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Lab: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/>
              <a:t>T = 290K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/>
              <a:t>liquid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HITRAN: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/>
              <a:t> T = 100K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/>
              <a:t>Gaseous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Therefore we see broadening+ shift!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rgbClr val="003D7C"/>
              </a:solidFill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131F92-6806-D8F2-39A6-8C86F9805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5" y="1078230"/>
            <a:ext cx="5356026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8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Plume Analysis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157939" y="784929"/>
            <a:ext cx="4532933" cy="3821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83480" y="777239"/>
            <a:ext cx="4059936" cy="2030017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In-situ instrument on orbiter possible: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Transmission 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Raman Spectrometer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Mass Spectrometer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Europa clipper: high radiation flux (flyby needed to reduce exposure)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Enceladus orbiter possible</a:t>
            </a:r>
          </a:p>
        </p:txBody>
      </p:sp>
      <p:sp>
        <p:nvSpPr>
          <p:cNvPr id="7" name="Text 5"/>
          <p:cNvSpPr/>
          <p:nvPr/>
        </p:nvSpPr>
        <p:spPr>
          <a:xfrm>
            <a:off x="5029200" y="804672"/>
            <a:ext cx="3675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3D7C"/>
                </a:solidFill>
              </a:rPr>
              <a:t>Plumes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321808" y="1170432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/>
            <a:endParaRPr lang="en-US" sz="1600">
              <a:solidFill>
                <a:srgbClr val="A2333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983480" y="2944417"/>
            <a:ext cx="4059935" cy="16413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029200" y="29594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3D7C"/>
                </a:solidFill>
              </a:rPr>
              <a:t>Interpretation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321808" y="309067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8CEDD"/>
                </a:solidFill>
              </a:rPr>
              <a:t>X-Ray Diffraction  |  Instrument: XRD | 2θ range: 2–70°</a:t>
            </a:r>
            <a:endParaRPr lang="en-US" sz="1000"/>
          </a:p>
        </p:txBody>
      </p:sp>
      <p:pic>
        <p:nvPicPr>
          <p:cNvPr id="2050" name="Picture 2" descr="Color view of the plumes of Enceladus | The Planetary Society">
            <a:extLst>
              <a:ext uri="{FF2B5EF4-FFF2-40B4-BE49-F238E27FC236}">
                <a16:creationId xmlns:a16="http://schemas.microsoft.com/office/drawing/2014/main" id="{2719C7CE-AB19-EE13-21C1-040F797C1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860221"/>
            <a:ext cx="4297680" cy="364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058F-BF9D-0444-1CA2-15BB5F8C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8">
            <a:extLst>
              <a:ext uri="{FF2B5EF4-FFF2-40B4-BE49-F238E27FC236}">
                <a16:creationId xmlns:a16="http://schemas.microsoft.com/office/drawing/2014/main" id="{D0D325D5-EEF9-F6C4-74EF-1BA3F75B7F03}"/>
              </a:ext>
            </a:extLst>
          </p:cNvPr>
          <p:cNvSpPr/>
          <p:nvPr/>
        </p:nvSpPr>
        <p:spPr>
          <a:xfrm>
            <a:off x="7052940" y="866968"/>
            <a:ext cx="1862460" cy="2455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7E9DDF-1ACA-3CEB-2E52-A82397221FB6}"/>
              </a:ext>
            </a:extLst>
          </p:cNvPr>
          <p:cNvSpPr/>
          <p:nvPr/>
        </p:nvSpPr>
        <p:spPr>
          <a:xfrm>
            <a:off x="228600" y="866968"/>
            <a:ext cx="3461008" cy="2455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7E01781-21F5-C070-F88B-0D754DA1D147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A463CCE-6931-12D6-A920-205B98B9489D}"/>
              </a:ext>
            </a:extLst>
          </p:cNvPr>
          <p:cNvSpPr/>
          <p:nvPr/>
        </p:nvSpPr>
        <p:spPr>
          <a:xfrm>
            <a:off x="1115639" y="606303"/>
            <a:ext cx="1664877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FD74AB7-32AC-3832-AA09-F827911624C7}"/>
              </a:ext>
            </a:extLst>
          </p:cNvPr>
          <p:cNvSpPr/>
          <p:nvPr/>
        </p:nvSpPr>
        <p:spPr>
          <a:xfrm>
            <a:off x="7159082" y="607091"/>
            <a:ext cx="1664877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3769EB6-A126-D147-819B-6E022AD45B4D}"/>
              </a:ext>
            </a:extLst>
          </p:cNvPr>
          <p:cNvSpPr/>
          <p:nvPr/>
        </p:nvSpPr>
        <p:spPr>
          <a:xfrm>
            <a:off x="4172399" y="866968"/>
            <a:ext cx="2423160" cy="245549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	</a:t>
            </a:r>
          </a:p>
          <a:p>
            <a:r>
              <a:rPr lang="en-US"/>
              <a:t>	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CD0A29-0A93-C1EF-288B-6BA2CE8E6775}"/>
              </a:ext>
            </a:extLst>
          </p:cNvPr>
          <p:cNvSpPr/>
          <p:nvPr/>
        </p:nvSpPr>
        <p:spPr>
          <a:xfrm>
            <a:off x="4423859" y="607092"/>
            <a:ext cx="1920240" cy="519751"/>
          </a:xfrm>
          <a:prstGeom prst="roundRect">
            <a:avLst/>
          </a:prstGeom>
          <a:solidFill>
            <a:srgbClr val="00A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AAF7E3-1812-59B6-2BE7-1898D67A9815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 How can we establish the required resolution?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A38B8D-86A9-6A82-2124-6A5E61DA4A80}"/>
              </a:ext>
            </a:extLst>
          </p:cNvPr>
          <p:cNvSpPr/>
          <p:nvPr/>
        </p:nvSpPr>
        <p:spPr>
          <a:xfrm>
            <a:off x="1080884" y="411480"/>
            <a:ext cx="17343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Planetary analogue</a:t>
            </a:r>
            <a:endParaRPr lang="en-US"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C0AC6C-A957-3874-7540-33DE2B0C42F5}"/>
              </a:ext>
            </a:extLst>
          </p:cNvPr>
          <p:cNvSpPr/>
          <p:nvPr/>
        </p:nvSpPr>
        <p:spPr>
          <a:xfrm>
            <a:off x="5175507" y="14630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64D37B0-85C4-54D0-8232-0D205450B6D7}"/>
              </a:ext>
            </a:extLst>
          </p:cNvPr>
          <p:cNvSpPr/>
          <p:nvPr/>
        </p:nvSpPr>
        <p:spPr>
          <a:xfrm>
            <a:off x="228600" y="3538594"/>
            <a:ext cx="8686800" cy="1193426"/>
          </a:xfrm>
          <a:prstGeom prst="rect">
            <a:avLst/>
          </a:prstGeom>
          <a:solidFill>
            <a:srgbClr val="E0F4FC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4CD2B26-113A-0F3E-B756-5A728399E919}"/>
              </a:ext>
            </a:extLst>
          </p:cNvPr>
          <p:cNvSpPr/>
          <p:nvPr/>
        </p:nvSpPr>
        <p:spPr>
          <a:xfrm>
            <a:off x="411479" y="3632202"/>
            <a:ext cx="8412480" cy="1026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Ice affects features; tests should be performed at cryogenic conditions</a:t>
            </a:r>
            <a:endParaRPr lang="nl-NL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The acquired spectrum has already been convolved with the lab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itchFamily="34" charset="0"/>
                <a:cs typeface="Calibri" pitchFamily="34" charset="-120"/>
              </a:rPr>
              <a:t>Mixed sample</a:t>
            </a:r>
            <a:endParaRPr lang="en-US" sz="140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A692761-DA46-698A-E2C9-08A1616C13BA}"/>
              </a:ext>
            </a:extLst>
          </p:cNvPr>
          <p:cNvSpPr/>
          <p:nvPr/>
        </p:nvSpPr>
        <p:spPr>
          <a:xfrm>
            <a:off x="7052940" y="40098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Convolution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99970-AEDD-30C1-96BB-A786B8CCF3F6}"/>
              </a:ext>
            </a:extLst>
          </p:cNvPr>
          <p:cNvSpPr/>
          <p:nvPr/>
        </p:nvSpPr>
        <p:spPr>
          <a:xfrm>
            <a:off x="4411298" y="411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VNIR spectrum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B1E1BA-B4AF-C1FE-A785-C9C1FD60B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268055"/>
              </p:ext>
            </p:extLst>
          </p:nvPr>
        </p:nvGraphicFramePr>
        <p:xfrm>
          <a:off x="843122" y="1234812"/>
          <a:ext cx="2231964" cy="179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013">
                  <a:extLst>
                    <a:ext uri="{9D8B030D-6E8A-4147-A177-3AD203B41FA5}">
                      <a16:colId xmlns:a16="http://schemas.microsoft.com/office/drawing/2014/main" val="3862139074"/>
                    </a:ext>
                  </a:extLst>
                </a:gridCol>
                <a:gridCol w="1077951">
                  <a:extLst>
                    <a:ext uri="{9D8B030D-6E8A-4147-A177-3AD203B41FA5}">
                      <a16:colId xmlns:a16="http://schemas.microsoft.com/office/drawing/2014/main" val="2820019587"/>
                    </a:ext>
                  </a:extLst>
                </a:gridCol>
              </a:tblGrid>
              <a:tr h="311764">
                <a:tc>
                  <a:txBody>
                    <a:bodyPr/>
                    <a:lstStyle/>
                    <a:p>
                      <a:r>
                        <a:rPr lang="nl-NL" sz="1200"/>
                        <a:t>Compound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Volume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65032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r>
                        <a:rPr lang="nl-NL" sz="1200"/>
                        <a:t>CO</a:t>
                      </a:r>
                      <a:r>
                        <a:rPr lang="nl-NL" sz="900"/>
                        <a:t>2</a:t>
                      </a:r>
                      <a:endParaRPr lang="nl-N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58037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r>
                        <a:rPr lang="nl-NL" sz="1200"/>
                        <a:t>Methane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kern="100">
                          <a:effectLst/>
                        </a:rPr>
                        <a:t>1.5</a:t>
                      </a:r>
                      <a:endParaRPr lang="nl-N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224641"/>
                  </a:ext>
                </a:extLst>
              </a:tr>
              <a:tr h="311764">
                <a:tc>
                  <a:txBody>
                    <a:bodyPr/>
                    <a:lstStyle/>
                    <a:p>
                      <a:r>
                        <a:rPr lang="nl-NL" sz="1200"/>
                        <a:t>Methanol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kern="100">
                          <a:effectLst/>
                        </a:rPr>
                        <a:t>0.02</a:t>
                      </a:r>
                      <a:endParaRPr lang="nl-N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45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nl-NL" sz="1200"/>
                        <a:t>Formaldehyde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00">
                          <a:effectLst/>
                        </a:rPr>
                        <a:t>0.3</a:t>
                      </a:r>
                      <a:endParaRPr lang="nl-N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068121"/>
                  </a:ext>
                </a:extLst>
              </a:tr>
              <a:tr h="225571">
                <a:tc>
                  <a:txBody>
                    <a:bodyPr/>
                    <a:lstStyle/>
                    <a:p>
                      <a:r>
                        <a:rPr lang="nl-NL" sz="1200"/>
                        <a:t>Ammonia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0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8862C0-2B30-C5C8-30D0-2E4999158C6B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689608" y="2094718"/>
            <a:ext cx="48279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BEE750-DDC5-3350-7EA1-055088541775}"/>
              </a:ext>
            </a:extLst>
          </p:cNvPr>
          <p:cNvCxnSpPr>
            <a:cxnSpLocks/>
            <a:stCxn id="10" idx="3"/>
            <a:endCxn id="32" idx="1"/>
          </p:cNvCxnSpPr>
          <p:nvPr/>
        </p:nvCxnSpPr>
        <p:spPr>
          <a:xfrm>
            <a:off x="6595559" y="2094718"/>
            <a:ext cx="45738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A7327C3-D324-D4A6-31CE-37716D7BA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573" y="1315163"/>
            <a:ext cx="1726056" cy="15605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F16681-E75E-1E0D-EB1A-FAB23C0AF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367" y="1395028"/>
            <a:ext cx="2197224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0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AB0FB-668A-DE5C-229D-B8F8C4386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B49794-5B95-B560-6ED4-E5AEBC431DE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8D1FE1-EA52-D7BD-1E47-FECF379AF0D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>
                <a:solidFill>
                  <a:srgbClr val="FFFFFF"/>
                </a:solidFill>
              </a:rPr>
              <a:t>Conclusion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8F3B6D-4D78-1EB2-DEF9-F304738656FE}"/>
              </a:ext>
            </a:extLst>
          </p:cNvPr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633B00-6450-E837-CEBC-881F4F4A485B}"/>
              </a:ext>
            </a:extLst>
          </p:cNvPr>
          <p:cNvSpPr/>
          <p:nvPr/>
        </p:nvSpPr>
        <p:spPr>
          <a:xfrm>
            <a:off x="320040" y="804672"/>
            <a:ext cx="1325880" cy="804672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1759A0-3DE4-00D2-2499-8617910473ED}"/>
              </a:ext>
            </a:extLst>
          </p:cNvPr>
          <p:cNvSpPr/>
          <p:nvPr/>
        </p:nvSpPr>
        <p:spPr>
          <a:xfrm>
            <a:off x="320040" y="804672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Organics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3B8A6D-C2BF-4A62-4EFE-F7F28674E5DC}"/>
              </a:ext>
            </a:extLst>
          </p:cNvPr>
          <p:cNvSpPr/>
          <p:nvPr/>
        </p:nvSpPr>
        <p:spPr>
          <a:xfrm>
            <a:off x="1783080" y="80467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Organics are present in Enceladus’ plumes, but we struggle to detect them on the surface using VIMS.</a:t>
            </a:r>
            <a:endParaRPr lang="en-US" sz="140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1DBA6FC-A1CB-F034-C4E5-C72783DD7717}"/>
              </a:ext>
            </a:extLst>
          </p:cNvPr>
          <p:cNvSpPr/>
          <p:nvPr/>
        </p:nvSpPr>
        <p:spPr>
          <a:xfrm>
            <a:off x="320040" y="176707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F88D770-A35C-267E-E3B8-E4A359EC8F45}"/>
              </a:ext>
            </a:extLst>
          </p:cNvPr>
          <p:cNvSpPr/>
          <p:nvPr/>
        </p:nvSpPr>
        <p:spPr>
          <a:xfrm>
            <a:off x="320040" y="1767078"/>
            <a:ext cx="1325880" cy="804672"/>
          </a:xfrm>
          <a:prstGeom prst="rect">
            <a:avLst/>
          </a:prstGeom>
          <a:solidFill>
            <a:srgbClr val="0070C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80154DC-D886-5B30-BC6A-A54B955F044C}"/>
              </a:ext>
            </a:extLst>
          </p:cNvPr>
          <p:cNvSpPr/>
          <p:nvPr/>
        </p:nvSpPr>
        <p:spPr>
          <a:xfrm>
            <a:off x="320040" y="176707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Accuracy</a:t>
            </a:r>
            <a:endParaRPr lang="en-US" sz="16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2DAC265-E26C-0CAE-FB58-1E05B283FCD3}"/>
              </a:ext>
            </a:extLst>
          </p:cNvPr>
          <p:cNvSpPr/>
          <p:nvPr/>
        </p:nvSpPr>
        <p:spPr>
          <a:xfrm>
            <a:off x="1783080" y="1767078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are affected by different types of resolution: spectral, spatial and intensity.</a:t>
            </a:r>
            <a:endParaRPr lang="en-US" sz="140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451AA27-E475-DEF6-6502-5A38F5217AB5}"/>
              </a:ext>
            </a:extLst>
          </p:cNvPr>
          <p:cNvSpPr/>
          <p:nvPr/>
        </p:nvSpPr>
        <p:spPr>
          <a:xfrm>
            <a:off x="320040" y="272948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BE17DB8-E7F0-6FFA-5D60-C013269DDB14}"/>
              </a:ext>
            </a:extLst>
          </p:cNvPr>
          <p:cNvSpPr/>
          <p:nvPr/>
        </p:nvSpPr>
        <p:spPr>
          <a:xfrm>
            <a:off x="320040" y="2729484"/>
            <a:ext cx="1325880" cy="804672"/>
          </a:xfrm>
          <a:prstGeom prst="rect">
            <a:avLst/>
          </a:prstGeom>
          <a:solidFill>
            <a:srgbClr val="7030A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9D74543-48CE-88D2-6D8C-6783587C8919}"/>
              </a:ext>
            </a:extLst>
          </p:cNvPr>
          <p:cNvSpPr/>
          <p:nvPr/>
        </p:nvSpPr>
        <p:spPr>
          <a:xfrm>
            <a:off x="320040" y="2729484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Limitations</a:t>
            </a:r>
            <a:endParaRPr lang="en-US" sz="160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014DD17E-BB11-E960-6240-F9AE8794FEAB}"/>
              </a:ext>
            </a:extLst>
          </p:cNvPr>
          <p:cNvSpPr/>
          <p:nvPr/>
        </p:nvSpPr>
        <p:spPr>
          <a:xfrm>
            <a:off x="1783080" y="2729484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our most modern equipment, it might not be possible to detect these materials using surface observation techniques.</a:t>
            </a:r>
            <a:endParaRPr lang="en-US" sz="140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0B5B505-8192-ECA6-7630-449DA93EFB07}"/>
              </a:ext>
            </a:extLst>
          </p:cNvPr>
          <p:cNvSpPr/>
          <p:nvPr/>
        </p:nvSpPr>
        <p:spPr>
          <a:xfrm>
            <a:off x="320040" y="369189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04A4728-E232-F62B-F1B6-4C5AD0FE6E74}"/>
              </a:ext>
            </a:extLst>
          </p:cNvPr>
          <p:cNvSpPr/>
          <p:nvPr/>
        </p:nvSpPr>
        <p:spPr>
          <a:xfrm>
            <a:off x="320040" y="3691890"/>
            <a:ext cx="1325880" cy="8046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0D084B5-E709-FCD4-1419-E274CDD55FFE}"/>
              </a:ext>
            </a:extLst>
          </p:cNvPr>
          <p:cNvSpPr/>
          <p:nvPr/>
        </p:nvSpPr>
        <p:spPr>
          <a:xfrm>
            <a:off x="320040" y="3691890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Lab work</a:t>
            </a:r>
            <a:endParaRPr lang="en-US" sz="160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5863C72-CDFF-8273-DB6E-CF29BDF66B83}"/>
              </a:ext>
            </a:extLst>
          </p:cNvPr>
          <p:cNvSpPr/>
          <p:nvPr/>
        </p:nvSpPr>
        <p:spPr>
          <a:xfrm>
            <a:off x="1783080" y="3691890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be established by performing VNIR measurements on laboratory analogues and convolving these with the resolving power of Europa Clipper.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26820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2A5C"/>
          </a:solidFill>
          <a:ln w="12700">
            <a:solidFill>
              <a:srgbClr val="002A5C"/>
            </a:solidFill>
            <a:prstDash val="solid"/>
          </a:ln>
        </p:spPr>
        <p:txBody>
          <a:bodyPr/>
          <a:lstStyle/>
          <a:p>
            <a:pPr algn="r"/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4297680"/>
            <a:ext cx="2011680" cy="84582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4297680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>
                <a:solidFill>
                  <a:srgbClr val="00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/>
          </a:p>
          <a:p>
            <a:pPr marL="0" indent="0">
              <a:lnSpc>
                <a:spcPct val="140000"/>
              </a:lnSpc>
              <a:buNone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373202-E2C7-23B1-C131-3EB40F96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6" y="4297680"/>
            <a:ext cx="1832851" cy="739571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9B2BE25B-EBE0-4A2B-9EDF-409D02AB6A7F}"/>
              </a:ext>
            </a:extLst>
          </p:cNvPr>
          <p:cNvSpPr/>
          <p:nvPr/>
        </p:nvSpPr>
        <p:spPr>
          <a:xfrm>
            <a:off x="2331720" y="437083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A8CEDD"/>
                </a:solidFill>
              </a:rPr>
              <a:t>Delft University of Technology  |   13/03/2026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830C-D707-F26F-EBB1-3E322D18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61CC02-4C57-32AE-9A40-1A18542643A7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3D9E51-886A-34D0-392A-BBFDC007326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References</a:t>
            </a:r>
            <a:endParaRPr lang="en-US"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754888-0457-C1A7-400C-6637B786106A}"/>
              </a:ext>
            </a:extLst>
          </p:cNvPr>
          <p:cNvSpPr/>
          <p:nvPr/>
        </p:nvSpPr>
        <p:spPr>
          <a:xfrm>
            <a:off x="320040" y="804672"/>
            <a:ext cx="8503920" cy="387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 sz="1100"/>
              <a:t>Waite, J. H., Jr., Combi, M. R., Ip, W.-H., Cravens, T. E., McNutt, R. L., Jr., Kasprzak, W., Yelle, R., Luhmann, J., Niemann, H., Gell, D., Magee, B., Fletcher, G., </a:t>
            </a:r>
            <a:r>
              <a:rPr lang="en-US" sz="1100" err="1"/>
              <a:t>Lunine</a:t>
            </a:r>
            <a:r>
              <a:rPr lang="en-US" sz="1100"/>
              <a:t>, J., &amp; Tseng, W.-L. (2006). Cassini Ion and Neutral Mass Spectrometer: Enceladus Plume Composition and Structure. Science, 311(5766), 1419–1422. </a:t>
            </a:r>
            <a:r>
              <a:rPr lang="en-US" sz="1100">
                <a:hlinkClick r:id="rId3"/>
              </a:rPr>
              <a:t>https://doi.org/10.1126/science.1121290</a:t>
            </a:r>
            <a:endParaRPr lang="en-US" sz="1100"/>
          </a:p>
          <a:p>
            <a:endParaRPr lang="en-US" sz="1100"/>
          </a:p>
          <a:p>
            <a:r>
              <a:rPr lang="en-US" sz="1100"/>
              <a:t>Waite Jr, J., Lewis, W., Magee, B. </a:t>
            </a:r>
            <a:r>
              <a:rPr lang="en-US" sz="1100" i="1"/>
              <a:t>et al.</a:t>
            </a:r>
            <a:r>
              <a:rPr lang="en-US" sz="1100"/>
              <a:t> Liquid water on Enceladus from observations of ammonia and </a:t>
            </a:r>
            <a:r>
              <a:rPr lang="en-US" sz="1100" baseline="30000"/>
              <a:t>40</a:t>
            </a:r>
            <a:r>
              <a:rPr lang="en-US" sz="1100"/>
              <a:t>Ar in the plume. </a:t>
            </a:r>
            <a:r>
              <a:rPr lang="en-US" sz="1100" i="1"/>
              <a:t>Nature</a:t>
            </a:r>
            <a:r>
              <a:rPr lang="en-US" sz="1100"/>
              <a:t> </a:t>
            </a:r>
            <a:r>
              <a:rPr lang="en-US" sz="1100" b="1"/>
              <a:t>460</a:t>
            </a:r>
            <a:r>
              <a:rPr lang="en-US" sz="1100"/>
              <a:t>, 487–490 (2009). </a:t>
            </a:r>
            <a:r>
              <a:rPr lang="en-US" sz="1100">
                <a:hlinkClick r:id="rId4"/>
              </a:rPr>
              <a:t>https://doi.org/10.1038/nature08153</a:t>
            </a:r>
            <a:endParaRPr lang="en-US" sz="1100"/>
          </a:p>
          <a:p>
            <a:endParaRPr lang="en-US" sz="1100"/>
          </a:p>
          <a:p>
            <a:r>
              <a:rPr lang="en-US" sz="1100" err="1"/>
              <a:t>Hodyss</a:t>
            </a:r>
            <a:r>
              <a:rPr lang="en-US" sz="1100"/>
              <a:t>, R., Parkinson, C. D., Johnson, P. V., Stern, J. V., Goguen, J. D., Yung, Y. L., &amp; Kanik, I. (2009). Methanol on Enceladus. Geophysical Research Letters, 36(17). </a:t>
            </a:r>
            <a:r>
              <a:rPr lang="en-US" sz="1100">
                <a:hlinkClick r:id="rId5"/>
              </a:rPr>
              <a:t>https://doi.org/10.1029/2009gl039336</a:t>
            </a:r>
            <a:endParaRPr lang="en-US" sz="1100"/>
          </a:p>
          <a:p>
            <a:endParaRPr lang="en-US" sz="1100"/>
          </a:p>
          <a:p>
            <a:r>
              <a:rPr lang="nl-NL" sz="1100" err="1"/>
              <a:t>Dhingra</a:t>
            </a:r>
            <a:r>
              <a:rPr lang="nl-NL" sz="1100"/>
              <a:t>, D., </a:t>
            </a:r>
            <a:r>
              <a:rPr lang="nl-NL" sz="1100" err="1"/>
              <a:t>Hedman</a:t>
            </a:r>
            <a:r>
              <a:rPr lang="nl-NL" sz="1100"/>
              <a:t>, M. M., Clark, R. N., &amp; </a:t>
            </a:r>
            <a:r>
              <a:rPr lang="nl-NL" sz="1100" err="1"/>
              <a:t>Nicholson</a:t>
            </a:r>
            <a:r>
              <a:rPr lang="nl-NL" sz="1100"/>
              <a:t>, P. D. (2017). </a:t>
            </a:r>
            <a:r>
              <a:rPr lang="nl-NL" sz="1100" err="1"/>
              <a:t>Spatially</a:t>
            </a:r>
            <a:r>
              <a:rPr lang="nl-NL" sz="1100"/>
              <a:t> </a:t>
            </a:r>
            <a:r>
              <a:rPr lang="nl-NL" sz="1100" err="1"/>
              <a:t>resolved</a:t>
            </a:r>
            <a:r>
              <a:rPr lang="nl-NL" sz="1100"/>
              <a:t> </a:t>
            </a:r>
            <a:r>
              <a:rPr lang="nl-NL" sz="1100" err="1"/>
              <a:t>near</a:t>
            </a:r>
            <a:r>
              <a:rPr lang="nl-NL" sz="1100"/>
              <a:t> </a:t>
            </a:r>
            <a:r>
              <a:rPr lang="nl-NL" sz="1100" err="1"/>
              <a:t>infrared</a:t>
            </a:r>
            <a:r>
              <a:rPr lang="nl-NL" sz="1100"/>
              <a:t> </a:t>
            </a:r>
            <a:r>
              <a:rPr lang="nl-NL" sz="1100" err="1"/>
              <a:t>observations</a:t>
            </a:r>
            <a:r>
              <a:rPr lang="nl-NL" sz="1100"/>
              <a:t> of </a:t>
            </a:r>
            <a:r>
              <a:rPr lang="nl-NL" sz="1100" err="1"/>
              <a:t>Enceladus</a:t>
            </a:r>
            <a:r>
              <a:rPr lang="nl-NL" sz="1100"/>
              <a:t>’ </a:t>
            </a:r>
            <a:r>
              <a:rPr lang="nl-NL" sz="1100" err="1"/>
              <a:t>tiger</a:t>
            </a:r>
            <a:r>
              <a:rPr lang="nl-NL" sz="1100"/>
              <a:t> </a:t>
            </a:r>
            <a:r>
              <a:rPr lang="nl-NL" sz="1100" err="1"/>
              <a:t>stripe</a:t>
            </a:r>
            <a:r>
              <a:rPr lang="nl-NL" sz="1100"/>
              <a:t> </a:t>
            </a:r>
            <a:r>
              <a:rPr lang="nl-NL" sz="1100" err="1"/>
              <a:t>eruptions</a:t>
            </a:r>
            <a:r>
              <a:rPr lang="nl-NL" sz="1100"/>
              <a:t> </a:t>
            </a:r>
            <a:r>
              <a:rPr lang="nl-NL" sz="1100" err="1"/>
              <a:t>from</a:t>
            </a:r>
            <a:r>
              <a:rPr lang="nl-NL" sz="1100"/>
              <a:t> Cassini VIMS. </a:t>
            </a:r>
            <a:r>
              <a:rPr lang="nl-NL" sz="1100" i="1" err="1"/>
              <a:t>Icarus</a:t>
            </a:r>
            <a:r>
              <a:rPr lang="nl-NL" sz="1100"/>
              <a:t>, </a:t>
            </a:r>
            <a:r>
              <a:rPr lang="nl-NL" sz="1100" i="1"/>
              <a:t>292</a:t>
            </a:r>
            <a:r>
              <a:rPr lang="nl-NL" sz="1100"/>
              <a:t>, 1–12. </a:t>
            </a:r>
            <a:r>
              <a:rPr lang="nl-NL" sz="1100">
                <a:hlinkClick r:id="rId6"/>
              </a:rPr>
              <a:t>https://doi.org/10.1016/j.icarus.2017.03.002</a:t>
            </a:r>
            <a:r>
              <a:rPr lang="nl-NL" sz="1100"/>
              <a:t> </a:t>
            </a:r>
          </a:p>
          <a:p>
            <a:endParaRPr lang="en-US" sz="1100"/>
          </a:p>
          <a:p>
            <a:r>
              <a:rPr lang="en-US" sz="1100"/>
              <a:t>R.V. </a:t>
            </a:r>
            <a:r>
              <a:rPr lang="en-US" sz="1100" err="1"/>
              <a:t>Kochanov</a:t>
            </a:r>
            <a:r>
              <a:rPr lang="en-US" sz="1100"/>
              <a:t>, I.E. Gordon, L.S. Rothman, P. Wcislo, C. Hill, J.S. </a:t>
            </a:r>
            <a:r>
              <a:rPr lang="en-US" sz="1100" err="1"/>
              <a:t>Wilzewski</a:t>
            </a:r>
            <a:r>
              <a:rPr lang="en-US" sz="1100"/>
              <a:t>, HITRAN Application Programming Interface (HAPI): A comprehensive approach to working with spectroscopic data, </a:t>
            </a:r>
            <a:r>
              <a:rPr lang="en-US" sz="1100" i="1"/>
              <a:t>J. Quant. </a:t>
            </a:r>
            <a:r>
              <a:rPr lang="en-US" sz="1100" i="1" err="1"/>
              <a:t>Spectrosc</a:t>
            </a:r>
            <a:r>
              <a:rPr lang="en-US" sz="1100" i="1"/>
              <a:t>. </a:t>
            </a:r>
            <a:r>
              <a:rPr lang="en-US" sz="1100" i="1" err="1"/>
              <a:t>Radiat</a:t>
            </a:r>
            <a:r>
              <a:rPr lang="en-US" sz="1100" i="1"/>
              <a:t>. Transfer</a:t>
            </a:r>
            <a:r>
              <a:rPr lang="en-US" sz="1100"/>
              <a:t> </a:t>
            </a:r>
            <a:r>
              <a:rPr lang="en-US" sz="1100" b="1"/>
              <a:t>177</a:t>
            </a:r>
            <a:r>
              <a:rPr lang="en-US" sz="1100"/>
              <a:t>, 15-30 (2016) [</a:t>
            </a:r>
            <a:r>
              <a:rPr lang="en-US" sz="1100">
                <a:hlinkClick r:id="rId7"/>
              </a:rPr>
              <a:t>Link to article</a:t>
            </a:r>
            <a:r>
              <a:rPr lang="en-US" sz="1100"/>
              <a:t>] [</a:t>
            </a:r>
            <a:r>
              <a:rPr lang="en-US" sz="1100">
                <a:hlinkClick r:id="rId8"/>
              </a:rPr>
              <a:t>ADS</a:t>
            </a:r>
            <a:r>
              <a:rPr lang="en-US" sz="1100"/>
              <a:t>].</a:t>
            </a:r>
          </a:p>
          <a:p>
            <a:endParaRPr lang="en-US" sz="1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214BC2-6956-9357-1F0F-3CD8ADBE84D8}"/>
              </a:ext>
            </a:extLst>
          </p:cNvPr>
          <p:cNvSpPr/>
          <p:nvPr/>
        </p:nvSpPr>
        <p:spPr>
          <a:xfrm>
            <a:off x="408878" y="804671"/>
            <a:ext cx="8277922" cy="37152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48840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B969-8080-8B95-5D1F-79FC0B1C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8AEE47-8433-832A-EB41-9379862AEFC3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32DD78-6666-4063-4C22-6185288C7E70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FFFFFF"/>
                </a:solidFill>
              </a:rPr>
              <a:t>extra</a:t>
            </a:r>
            <a:endParaRPr lang="en-US" sz="13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1E6C73-B37D-2877-AF1F-2A90C0F4EED1}"/>
              </a:ext>
            </a:extLst>
          </p:cNvPr>
          <p:cNvSpPr/>
          <p:nvPr/>
        </p:nvSpPr>
        <p:spPr>
          <a:xfrm>
            <a:off x="7430946" y="804672"/>
            <a:ext cx="1393013" cy="387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9F5"/>
            </a:solidFill>
            <a:prstDash val="solid"/>
          </a:ln>
          <a:effectLst>
            <a:outerShdw blurRad="101600" dist="38100" dir="8100000" algn="bl" rotWithShape="0">
              <a:srgbClr val="003D7C">
                <a:alpha val="12000"/>
              </a:srgbClr>
            </a:outerShdw>
          </a:effectLst>
        </p:spPr>
        <p:txBody>
          <a:bodyPr/>
          <a:lstStyle/>
          <a:p>
            <a:r>
              <a:rPr lang="en-US" sz="1100"/>
              <a:t>Early attempt:</a:t>
            </a:r>
          </a:p>
          <a:p>
            <a:r>
              <a:rPr lang="en-US" sz="1100"/>
              <a:t>Ethane/methane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3FF729-3732-6410-3F3E-2C09C95D1074}"/>
              </a:ext>
            </a:extLst>
          </p:cNvPr>
          <p:cNvSpPr/>
          <p:nvPr/>
        </p:nvSpPr>
        <p:spPr>
          <a:xfrm>
            <a:off x="408878" y="804671"/>
            <a:ext cx="8277922" cy="37152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C070CD-CEA3-F3BD-2A58-4B7C7E922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78" y="0"/>
            <a:ext cx="67079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4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Microsoft Macintosh PowerPoint</Application>
  <PresentationFormat>On-screen Show (16:9)</PresentationFormat>
  <Paragraphs>227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Spectroscopy Lab Results — TU Delft</dc:title>
  <dc:subject>PptxGenJS Presentation</dc:subject>
  <dc:creator>PptxGenJS</dc:creator>
  <cp:lastModifiedBy>Ward Depoorter</cp:lastModifiedBy>
  <cp:revision>2</cp:revision>
  <dcterms:created xsi:type="dcterms:W3CDTF">2026-03-12T10:04:36Z</dcterms:created>
  <dcterms:modified xsi:type="dcterms:W3CDTF">2026-03-27T11:49:50Z</dcterms:modified>
</cp:coreProperties>
</file>